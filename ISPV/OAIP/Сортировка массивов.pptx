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Masters/slideMaster2.xml" ContentType="application/vnd.openxmlformats-officedocument.presentationml.slideMaster+xml"/>
  <Override PartName="/ppt/notesSlides/notesSlide2.xml" ContentType="application/vnd.openxmlformats-officedocument.presentationml.notesSlid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notesSlides/notesSlide19.xml" ContentType="application/vnd.openxmlformats-officedocument.presentationml.notesSlid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7559675" cy="10691813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0" d="100"/>
          <a:sy n="80" d="100"/>
        </p:scale>
        <p:origin x="-96" y="-588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5A915B-372C-7E1C-1BE7-8B4C3EF320EA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979F24-00AF-8ED4-031F-8FBE818A369A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4441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537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9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EC70A-742F-E9EA-3365-839175DDB6E9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321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2623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2350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D0E2AC-8F5C-0B94-93C1-EFBF962F70B2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3351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6099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472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523AE4-DD5D-9D85-FF65-E8ECC8010619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5951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80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3579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B2F9DA-2E74-78D5-14A7-CB29A5523C30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360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8964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530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94ACEC-D5A7-B9E7-DBCE-D57F03E86B52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6997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715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2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8A7816-12E9-DC4B-DA98-90844A384084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406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873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1982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EF93AD-AE5A-AE27-1364-B537AF8F9735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69B1F0-2B34-63EA-3EB7-1D7B912A87E7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3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171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93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B9BA9F-DB8E-C2CA-E208-C6EA5DF544FD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727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9326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130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ACF1F0-F00D-1A10-5307-A5D347C4B55F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2478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6094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11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9D5EE0-3496-EFA7-4019-ED451893BD2F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297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3838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876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7F9E52-6E5C-A3ED-16FC-253E925D5EAA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3201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4193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97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A32C8-E52C-678A-03CF-B328B48D36EE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676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7934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87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7BB4B8-32E1-F990-B1C5-59453FC93F5A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6168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72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718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430435-9474-DA97-E8E8-44BD0B5DC613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98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71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62461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2448DE-8B35-1477-F0C4-6B6374A5A431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977284-4AA6-DA3A-387B-C7DC778602CA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189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4343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5958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587BB3-F482-5926-6618-3B9604B2A4DF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330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1716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614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44977F-1095-2AF3-2046-2D2651116915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E25A050E-B292-4F72-A184-96D4176787A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A6EC15B2-BEA9-440B-B22E-7413D22075D8}" type="slidenum">
              <a:rPr/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282B2E7F-BDA1-4C3A-913C-615331DE3A9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95609780-BCDC-47F6-93AF-301452CFBAC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0BA5F822-A706-4293-AA7B-3806FC0597D7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837720" y="364680"/>
            <a:ext cx="1051488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7D3CE60B-EF35-4EE6-ADF5-263041FA475E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6786AEA3-35B0-45D9-A548-344D191806CC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3E0A7B00-51DA-4527-BCC4-D65185E7304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2892BC66-77E0-4E7D-BAD0-1A609159888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466A52AF-E890-4BF5-856A-18A43F44C75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46B07EF8-5225-4594-827D-FCC915E36607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 bwMode="auto">
          <a:xfrm>
            <a:off x="4392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 bwMode="auto">
          <a:xfrm>
            <a:off x="794808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 bwMode="auto">
          <a:xfrm>
            <a:off x="4392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 bwMode="auto">
          <a:xfrm>
            <a:off x="794808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17D9F43A-C5FF-433B-8437-E78F298A5D0F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E526D618-988B-4763-9DAF-E60E2D1755E0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87D9A214-15E8-418C-BCC4-808BF47A641E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F0243474-5E44-4831-90F6-ED6024297AFD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9131BCE6-FCE0-4B20-8251-53179FF43D47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79037520-6FDD-49E8-98CA-C75C3D3B929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 bwMode="auto">
          <a:xfrm>
            <a:off x="837720" y="364680"/>
            <a:ext cx="1051488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66D6F475-ADCC-46EF-A005-F4879B2578B8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6CD5C2D5-AFEB-4203-B6BB-3234BBC07EA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781A4DE3-40EC-4775-B26B-E69707F5046C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8BB66AD6-105A-48D8-ADAF-C89BBC1512C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C8318770-969A-42FE-A814-B1EA1B815BC2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D377A456-32CE-419A-AEEB-843B80E7363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 bwMode="auto">
          <a:xfrm>
            <a:off x="4392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 bwMode="auto">
          <a:xfrm>
            <a:off x="794808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 bwMode="auto">
          <a:xfrm>
            <a:off x="4392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 bwMode="auto">
          <a:xfrm>
            <a:off x="794808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D45C532E-DC8A-4FC3-AFE1-B5E430FCF083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520" y="1121760"/>
            <a:ext cx="914328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  <a:defRPr/>
            </a:pPr>
            <a:r>
              <a:rPr lang="ru-RU" sz="60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 bwMode="auto">
          <a:xfrm>
            <a:off x="83772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ru-RU" sz="1200" b="0" strike="noStrike" spc="-1">
                <a:solidFill>
                  <a:srgbClr val="8B8B8B"/>
                </a:solidFill>
                <a:latin typeface="Calibri"/>
              </a:rPr>
              <a:t> </a:t>
            </a:r>
            <a:endParaRPr lang="ru-RU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 bwMode="auto">
          <a:xfrm>
            <a:off x="4037400" y="6356160"/>
            <a:ext cx="41144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ru-RU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ru-RU" sz="1400" b="0" strike="noStrike" spc="-1">
                <a:latin typeface="Times New Roman"/>
              </a:rPr>
              <a:t> </a:t>
            </a:r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0976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10E352E6-A6A2-4F6F-B46A-F48437F8FBAC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 bwMode="auto">
          <a:xfrm>
            <a:off x="609120" y="1603800"/>
            <a:ext cx="10972079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09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/>
          </a:p>
          <a:p>
            <a:pPr marL="864000" lvl="1" indent="-3240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/>
          </a:p>
          <a:p>
            <a:pPr marL="1296000" lvl="2" indent="-2880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/>
          </a:p>
          <a:p>
            <a:pPr marL="1728000" lvl="3" indent="-216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/>
          </a:p>
          <a:p>
            <a:pPr marL="2160000" lvl="4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/>
          </a:p>
          <a:p>
            <a:pPr marL="2592000" lvl="5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/>
          </a:p>
          <a:p>
            <a:pPr marL="3024000" lvl="6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  <a:endParaRPr/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  <a:endParaRPr/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  <a:endParaRPr/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  <a:endParaRPr/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 bwMode="auto">
          <a:xfrm>
            <a:off x="83772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ru-RU" sz="1200" b="0" strike="noStrike" spc="-1">
                <a:solidFill>
                  <a:srgbClr val="8B8B8B"/>
                </a:solidFill>
                <a:latin typeface="Calibri"/>
              </a:rPr>
              <a:t>&lt;дата/время&gt;</a:t>
            </a:r>
            <a:endParaRPr lang="ru-RU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 bwMode="auto">
          <a:xfrm>
            <a:off x="4037400" y="6356160"/>
            <a:ext cx="41144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ru-RU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ru-RU" sz="1400" b="0" strike="noStrike" spc="-1">
                <a:latin typeface="Times New Roman"/>
              </a:rPr>
              <a:t>&lt;нижний колонтитул&gt;</a:t>
            </a:r>
            <a:endParaRPr/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0976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5D055F14-F48E-4168-98EA-A8E7AE705CB2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roglib.io/p/sort-gif?ysclid=mimwfwu0mv257581048" TargetMode="External"/><Relationship Id="rId4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 bwMode="auto">
          <a:xfrm>
            <a:off x="1523520" y="1121760"/>
            <a:ext cx="914328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  <a:defRPr/>
            </a:pPr>
            <a:r>
              <a:rPr lang="ru-RU" sz="6000" b="0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Сортировки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 bwMode="auto">
          <a:xfrm>
            <a:off x="1523520" y="360180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strike="noStrike" spc="0">
                <a:solidFill>
                  <a:srgbClr val="000000"/>
                </a:solidFill>
                <a:latin typeface="Calibri Light"/>
              </a:rPr>
              <a:t>Что это и зачем надо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lvl="1"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Алгоритмы сортировки — основа программирования, без них невозможно двигаться дальше. Но почему сортировка имеет такое значение? Дело в том, что </a:t>
            </a: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упорядочивание 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это основа для оптимизации других алгоритмов, улучшения производительности и более эффективного управления данными.</a:t>
            </a: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4388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strike="noStrike" spc="0">
                <a:solidFill>
                  <a:srgbClr val="000000"/>
                </a:solidFill>
                <a:latin typeface="Calibri Light"/>
              </a:rPr>
              <a:t>Что это и зачем надо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6027631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При этом, если представить сортировку просто как способ расположить элементы в нужном порядке, мы упустим ее глубокий смысл. Алгоритмы сортировки не просто «переставляют» элементы массива. Они оптимизируют работу приложений, минимизируют потребление памяти и могут работать даже на больших наборах данных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marR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Оптимальные алгоритмы позволяют снизить время выполнения программ и обеспечить предсказуемое поведение системы. Без них приложения будут страдать от затяжных задержек или даже сбоев при работе с большими данными.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2230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Популярные алгоритмы сортировки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293981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Пузырьковая сортировка (Bubble Sort)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Простейший алгоритм, который сравнивает пары соседних элементов и меняет их местами. Несмотря на свою простоту, это один из наименее эффективных алгоритмов со сложностью O(n2). 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6427476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38604" y="3429000"/>
            <a:ext cx="9113110" cy="3136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71381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Популярные алгоритмы сортировки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4982197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Сортировка вставками (Insertion Sort).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Работает путем вставки каждого нового элемента в уже отсортированный массив. Эффективен для небольших массивов и имеет временную сложность O(n2).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82149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63359" y="3397648"/>
            <a:ext cx="5263599" cy="3389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88186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Популярные алгоритмы сортировки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8997672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Сортировка выбором (Selection Sort).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На каждом шаге выбирает минимальный элемент из неотсортированной части и помещает его в конец отсортированной. Подходит для массивов, где важна простота реализации. Его эффективность также O(n2).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3351166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10864" y="3755941"/>
            <a:ext cx="8168590" cy="29173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557742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Популярные алгоритмы сортировки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0766007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Пирамидальная сортировка (Heap Sort).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Использует структуру данных «куча» и работает за O(n log ⁡n). Отличается предсказуемой производительностью и малыми накладными расходами.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2985959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0496" y="3113263"/>
            <a:ext cx="4494850" cy="3595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524631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Популярные алгоритмы сортировки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7533571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Быстрая сортировка (Quick Sort)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Один из самых эффективных алгоритмов. Как правило, выполняет сортировку быстрее остальных благодаря разделению массива на меньшие подмассивы и последующей рекурсивной сортировке.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519259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89541" y="4119996"/>
            <a:ext cx="6811236" cy="24063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29590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Популярные алгоритмы сортировки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9115356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0" marR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>
                <a:tab pos="0" algn="l"/>
              </a:tabLst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Сортировка слиянием (Merge Sort).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Алгоритм, гарантированно обеспечивающий O(n log ⁡n) даже в худшем случае. Подходит для больших объемов данных и сохранения стабильности сортировки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  <a:hlinkClick r:id="rId3" tooltip="https://proglib.io/p/sort-gif?ysclid=mimwfwu0mv257581048"/>
              </a:rPr>
              <a:t>.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4740498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20812" y="2999387"/>
            <a:ext cx="5948694" cy="38586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14162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5775" y="317499"/>
            <a:ext cx="11220449" cy="6229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75339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Сложность алгоритма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7337968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Временная сложность определяет время выполнения алгоритма.</a:t>
            </a:r>
            <a:endParaRPr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marL="394023" indent="-394023" algn="just">
              <a:buFont typeface="Arial"/>
              <a:buChar char="•"/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O(n) — линейная сложность, количество операций  увеличивается пропорционально размеру входных данных.</a:t>
            </a:r>
            <a:endParaRPr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marL="394023" indent="-394023" algn="just">
              <a:buFont typeface="Arial"/>
              <a:buChar char="•"/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O(n2) — квадратичная сложность, количество операций возрастает квадратично.</a:t>
            </a:r>
            <a:endParaRPr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marL="394023" indent="-394023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O(n log⁡ n) — логарифмическая сложность, оптимальное время для большинства сортировок, включая Quick Sort и Merge Sort.</a:t>
            </a:r>
            <a:endParaRPr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35412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Сложность алгоритма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6111467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Пространственная сложность определяет, сколько дополнительной памяти требует алгоритм помимо самого массива. Чем меньше, тем лучше, особенно при работе с большими объемами данных.</a:t>
            </a:r>
            <a:endParaRPr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192736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Внутренние алгоритмы сортировки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870292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Работа выполняется в оперативной памяти. Они отлично справляются с задачами, когда объем данных небольшой и все помещается в ОЗУ. </a:t>
            </a:r>
            <a:endParaRPr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404102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Внешние алгоритмы сортировки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1500026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Внешние алгоритмы сортировки подключают жесткий диск или другие внешние устройства хранения. Используются, когда данных так много, что они не помещаются в оперативной памяти. Например, многопутевая сортировка слиянием разбивает их на несколько файлов, а затем соединяет в один отсортированный массив.</a:t>
            </a:r>
            <a:endParaRPr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276971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Сортировка пузырьком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9989481" name="Объект 2"/>
          <p:cNvSpPr/>
          <p:nvPr/>
        </p:nvSpPr>
        <p:spPr bwMode="auto">
          <a:xfrm flipH="0" flipV="0">
            <a:off x="837719" y="1428750"/>
            <a:ext cx="10515237" cy="53534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//метод сортировки пузырьком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int[] BubbleSort(int[] mas)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{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int temp; </a:t>
            </a:r>
            <a:r>
              <a:rPr lang="en-U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//временная переменная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</a:t>
            </a:r>
            <a:r>
              <a:rPr lang="en-U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 //внешний цикл 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</a:t>
            </a:r>
            <a:r>
              <a:rPr lang="en-US" sz="20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 for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(int i = 0; i &lt; mas.Length; i++)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</a:t>
            </a:r>
            <a:r>
              <a:rPr lang="en-US" sz="20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{</a:t>
            </a:r>
            <a:r>
              <a:rPr lang="en-U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//внутренний цикл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</a:t>
            </a:r>
            <a:r>
              <a:rPr lang="en-US" sz="20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for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(int j = i + 1; j &lt; mas.Length; j++)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</a:t>
            </a:r>
            <a:r>
              <a:rPr lang="en-US" sz="20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{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if (mas[i] &gt; mas[j])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{</a:t>
            </a:r>
            <a:r>
              <a:rPr>
                <a:solidFill>
                  <a:schemeClr val="accent6">
                    <a:lumMod val="50000"/>
                  </a:schemeClr>
                </a:solidFill>
              </a:rPr>
              <a:t>//меняем местами элементы в массиве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temp = mas[i];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mas[i] = mas[j];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mas[j] = temp;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}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</a:t>
            </a:r>
            <a:r>
              <a:rPr lang="en-US" sz="20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}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</a:t>
            </a:r>
            <a:r>
              <a:rPr lang="en-US" sz="20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}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return mas;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}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67817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Сортировка пузырьком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0869992" name="Объект 2"/>
          <p:cNvSpPr/>
          <p:nvPr/>
        </p:nvSpPr>
        <p:spPr bwMode="auto">
          <a:xfrm flipH="0" flipV="0">
            <a:off x="837720" y="1815779"/>
            <a:ext cx="10515238" cy="3052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//изначальный массив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int[] arr = { -5, 3, 0, -22, 5, 7, 3, -1 };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//вызов метода для сортировки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arr = BubbleSort(arr);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//вывод массива на консоль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foreach (var item in arr)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{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Console.WriteLine(item);</a:t>
            </a: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}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817882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Сортировка выбором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0879676" name="Объект 2"/>
          <p:cNvSpPr/>
          <p:nvPr/>
        </p:nvSpPr>
        <p:spPr bwMode="auto">
          <a:xfrm flipH="0" flipV="0">
            <a:off x="837720" y="1815779"/>
            <a:ext cx="10515238" cy="47370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static int[] ViborSort(int[] mas)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{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</a:t>
            </a:r>
            <a:r>
              <a:rPr lang="en-U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//внешний цикл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</a:t>
            </a:r>
            <a:r>
              <a:rPr lang="en-US" sz="20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 for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(int i = 0; i &lt; mas.Length - 1; i++)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</a:t>
            </a:r>
            <a:r>
              <a:rPr lang="en-US" sz="20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{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</a:t>
            </a:r>
            <a:r>
              <a:rPr lang="en-U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//поиск минимального числа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int min = i;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</a:t>
            </a:r>
            <a:r>
              <a:rPr lang="en-US" sz="20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for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(int j = i + 1; j &lt; mas.Length; j++)</a:t>
            </a:r>
            <a:r>
              <a:rPr lang="en-U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//вложенный цикл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</a:t>
            </a:r>
            <a:r>
              <a:rPr lang="en-US" sz="20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{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if (mas[j] &lt; mas[min])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{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min = j;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}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</a:t>
            </a:r>
            <a:r>
              <a:rPr lang="en-US" sz="20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}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</a:t>
            </a:r>
            <a:r>
              <a:rPr lang="en-US" sz="20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//обмен элементов</a:t>
            </a:r>
            <a:endParaRPr sz="2000" b="0" i="0" u="none" strike="noStrike" cap="none" spc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int temp = mas[min];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mas[min] = mas[i];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mas[i] = temp;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</a:t>
            </a:r>
            <a:r>
              <a:rPr lang="en-US" sz="2000" b="0" i="0" u="none" strike="noStrike" cap="none" spc="0">
                <a:solidFill>
                  <a:srgbClr val="7030A0"/>
                </a:solidFill>
                <a:latin typeface="Arial"/>
                <a:ea typeface="Arial"/>
                <a:cs typeface="Arial"/>
              </a:rPr>
              <a:t>}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return mas;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}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89007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Быстрая сортировка, Quick Sort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7918152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Основная идея базируется на парадигме «разделяй и властвуй». Алгоритм сначала выбирает опорный элемент (pivot). Затем делит массив на два подмассива: в первом элементы меньше или равны pivot, а во втором — больше. После этого каждый подмассив сортируется независимо. Затем процесс рекурсивно повторяется для обоих подмассивов, что позволяет эффективно упорядочить элементы.</a:t>
            </a:r>
            <a:endParaRPr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0596955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17013" y="4263487"/>
            <a:ext cx="7428597" cy="2624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59978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833" y="474180"/>
            <a:ext cx="8316735" cy="59096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8676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Быстрая сортировка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068073" name="Объект 2"/>
          <p:cNvSpPr/>
          <p:nvPr/>
        </p:nvSpPr>
        <p:spPr bwMode="auto">
          <a:xfrm flipH="0" flipV="0">
            <a:off x="837720" y="1305277"/>
            <a:ext cx="10515238" cy="5362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int[] QuickSort(int[] arr)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{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if (arr.Length &lt;= 1)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{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return arr;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}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int pivot = arr[arr.Length / 2];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var left = new List&lt;int&gt;();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var middle = new List&lt;int&gt;();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var right = new List&lt;int&gt;();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foreach (int x in arr)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{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if (x &lt; pivot)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{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left.Add(x);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}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else if (x == pivot)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{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middle.Add(x);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}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else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{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right.Add(x);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}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}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return [.. QuickSort(left.ToArray()), .. middle, .. QuickSort(right.ToArray())];</a:t>
            </a:r>
            <a:endParaRPr lang="en-US" sz="1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}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00256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Задание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607857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94023" indent="-394023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Пользователь вводит массив с консоли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94023" indent="-394023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Вывести массив отсортированный от большего к меньшему пузырьком.</a:t>
            </a:r>
            <a:endParaRPr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ONLYOFFICE/8.2.2.22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Элементы управления Win Forms</dc:title>
  <dc:subject/>
  <dc:creator>221</dc:creator>
  <dc:description/>
  <dc:language>ru-RU</dc:language>
  <cp:lastModifiedBy/>
  <cp:revision>32</cp:revision>
  <dcterms:created xsi:type="dcterms:W3CDTF">2025-11-07T06:03:59Z</dcterms:created>
  <dcterms:modified xsi:type="dcterms:W3CDTF">2025-12-01T09:46:17Z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28</vt:i4>
  </property>
</Properties>
</file>