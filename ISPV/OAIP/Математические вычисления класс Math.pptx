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  <p:sldMasterId id="2147483661" r:id="rId2"/>
  </p:sldMasterIdLst>
  <p:notesMasterIdLst>
    <p:notesMasterId r:id="rId11"/>
  </p:notes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7559675" cy="10691813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80" d="100"/>
          <a:sy n="80" d="100"/>
        </p:scale>
        <p:origin x="-96" y="-588"/>
      </p:cViewPr>
      <p:guideLst>
        <p:guide pos="2160" orient="horz"/>
        <p:guide pos="384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theme" Target="theme/theme1.xml"/><Relationship Id="rId4" Type="http://schemas.openxmlformats.org/officeDocument/2006/relationships/theme" Target="theme/theme2.xml"/><Relationship Id="rId5" Type="http://schemas.openxmlformats.org/officeDocument/2006/relationships/theme" Target="theme/theme3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5A915B-372C-7E1C-1BE7-8B4C3EF320EA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979F24-00AF-8ED4-031F-8FBE818A369A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4717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38250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9280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14C9C-D178-C225-E537-7441791BA6FF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340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66301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9928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5FF1F6-A6F0-FAE4-3159-C50F73687745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BB4430-D98C-A468-6588-CD96E3D0A6F8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E25A050E-B292-4F72-A184-96D4176787AE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A6EC15B2-BEA9-440B-B22E-7413D22075D8}" type="slidenum">
              <a:rPr/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282B2E7F-BDA1-4C3A-913C-615331DE3A99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 bwMode="auto">
          <a:xfrm>
            <a:off x="622584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95609780-BCDC-47F6-93AF-301452CFBAC1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0BA5F822-A706-4293-AA7B-3806FC0597D7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 bwMode="auto">
          <a:xfrm>
            <a:off x="837720" y="364680"/>
            <a:ext cx="1051488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7D3CE60B-EF35-4EE6-ADF5-263041FA475E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 bwMode="auto">
          <a:xfrm>
            <a:off x="622584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 bwMode="auto">
          <a:xfrm>
            <a:off x="83772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6786AEA3-35B0-45D9-A548-344D191806CC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 bwMode="auto">
          <a:xfrm>
            <a:off x="622584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 bwMode="auto">
          <a:xfrm>
            <a:off x="622584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3E0A7B00-51DA-4527-BCC4-D65185E73041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 bwMode="auto">
          <a:xfrm>
            <a:off x="622584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 bwMode="auto">
          <a:xfrm>
            <a:off x="837720" y="4097880"/>
            <a:ext cx="105148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2892BC66-77E0-4E7D-BAD0-1A6091598884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105148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 bwMode="auto">
          <a:xfrm>
            <a:off x="837720" y="4097880"/>
            <a:ext cx="105148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466A52AF-E890-4BF5-856A-18A43F44C75C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 bwMode="auto">
          <a:xfrm>
            <a:off x="622584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 bwMode="auto">
          <a:xfrm>
            <a:off x="83772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 bwMode="auto">
          <a:xfrm>
            <a:off x="622584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46B07EF8-5225-4594-827D-FCC915E36607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 bwMode="auto">
          <a:xfrm>
            <a:off x="4392720" y="182520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 bwMode="auto">
          <a:xfrm>
            <a:off x="7948080" y="182520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 bwMode="auto">
          <a:xfrm>
            <a:off x="837720" y="409788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 bwMode="auto">
          <a:xfrm>
            <a:off x="4392720" y="409788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 bwMode="auto">
          <a:xfrm>
            <a:off x="7948080" y="409788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17D9F43A-C5FF-433B-8437-E78F298A5D0F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E526D618-988B-4763-9DAF-E60E2D1755E0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87D9A214-15E8-418C-BCC4-808BF47A641E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F0243474-5E44-4831-90F6-ED6024297AFD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 bwMode="auto">
          <a:xfrm>
            <a:off x="622584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9131BCE6-FCE0-4B20-8251-53179FF43D47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79037520-6FDD-49E8-98CA-C75C3D3B9296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 bwMode="auto">
          <a:xfrm>
            <a:off x="837720" y="364680"/>
            <a:ext cx="1051488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66D6F475-ADCC-46EF-A005-F4879B2578B8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 bwMode="auto">
          <a:xfrm>
            <a:off x="622584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 bwMode="auto">
          <a:xfrm>
            <a:off x="83772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6CD5C2D5-AFEB-4203-B6BB-3234BBC07EA1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 bwMode="auto">
          <a:xfrm>
            <a:off x="622584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 bwMode="auto">
          <a:xfrm>
            <a:off x="622584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781A4DE3-40EC-4775-B26B-E69707F5046C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 bwMode="auto">
          <a:xfrm>
            <a:off x="622584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 bwMode="auto">
          <a:xfrm>
            <a:off x="837720" y="4097880"/>
            <a:ext cx="105148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8BB66AD6-105A-48D8-ADAF-C89BBC1512CA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105148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 bwMode="auto">
          <a:xfrm>
            <a:off x="837720" y="4097880"/>
            <a:ext cx="105148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C8318770-969A-42FE-A814-B1EA1B815BC2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 bwMode="auto">
          <a:xfrm>
            <a:off x="622584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 bwMode="auto">
          <a:xfrm>
            <a:off x="83772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 bwMode="auto">
          <a:xfrm>
            <a:off x="622584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D377A456-32CE-419A-AEEB-843B80E73633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 bwMode="auto">
          <a:xfrm>
            <a:off x="4392720" y="182520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 bwMode="auto">
          <a:xfrm>
            <a:off x="7948080" y="182520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 bwMode="auto">
          <a:xfrm>
            <a:off x="837720" y="409788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 bwMode="auto">
          <a:xfrm>
            <a:off x="4392720" y="409788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 bwMode="auto">
          <a:xfrm>
            <a:off x="7948080" y="409788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D45C532E-DC8A-4FC3-AFE1-B5E430FCF083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 bwMode="auto">
          <a:xfrm>
            <a:off x="1523520" y="1121760"/>
            <a:ext cx="914328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  <a:buNone/>
              <a:defRPr/>
            </a:pPr>
            <a:r>
              <a:rPr lang="ru-RU" sz="6000" b="0" strike="noStrike" spc="-1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lang="ru-RU" sz="6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 bwMode="auto">
          <a:xfrm>
            <a:off x="837720" y="6356160"/>
            <a:ext cx="274284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ru-RU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  <a:defRPr/>
            </a:pPr>
            <a:r>
              <a:rPr lang="ru-RU" sz="1200" b="0" strike="noStrike" spc="-1">
                <a:solidFill>
                  <a:srgbClr val="8B8B8B"/>
                </a:solidFill>
                <a:latin typeface="Calibri"/>
              </a:rPr>
              <a:t> </a:t>
            </a:r>
            <a:endParaRPr lang="ru-RU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 bwMode="auto">
          <a:xfrm>
            <a:off x="4037400" y="6356160"/>
            <a:ext cx="411444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ru-RU" sz="1400" b="0" strike="noStrike" spc="-1">
                <a:latin typeface="Times New Roman"/>
              </a:defRPr>
            </a:lvl1pPr>
          </a:lstStyle>
          <a:p>
            <a:pPr algn="ctr">
              <a:buNone/>
              <a:defRPr/>
            </a:pPr>
            <a:r>
              <a:rPr lang="ru-RU" sz="1400" b="0" strike="noStrike" spc="-1">
                <a:latin typeface="Times New Roman"/>
              </a:rPr>
              <a:t> </a:t>
            </a:r>
            <a:endParaRPr/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 bwMode="auto">
          <a:xfrm>
            <a:off x="8609760" y="6356160"/>
            <a:ext cx="274284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ru-RU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  <a:defRPr/>
            </a:pPr>
            <a:fld id="{10E352E6-A6A2-4F6F-B46A-F48437F8FBAC}" type="slidenum">
              <a:rPr lang="ru-RU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ru-RU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 bwMode="auto">
          <a:xfrm>
            <a:off x="609120" y="1603800"/>
            <a:ext cx="10972079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09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Для правки структуры щёлкните мышью</a:t>
            </a:r>
            <a:endParaRPr/>
          </a:p>
          <a:p>
            <a:pPr marL="864000" lvl="1" indent="-324000">
              <a:lnSpc>
                <a:spcPct val="90000"/>
              </a:lnSpc>
              <a:spcBef>
                <a:spcPts val="1131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Второй уровень структуры</a:t>
            </a:r>
            <a:endParaRPr/>
          </a:p>
          <a:p>
            <a:pPr marL="1296000" lvl="2" indent="-288000">
              <a:lnSpc>
                <a:spcPct val="90000"/>
              </a:lnSpc>
              <a:spcBef>
                <a:spcPts val="848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Третий уровень структуры</a:t>
            </a:r>
            <a:endParaRPr/>
          </a:p>
          <a:p>
            <a:pPr marL="1728000" lvl="3" indent="-21600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Четвёртый уровень структуры</a:t>
            </a:r>
            <a:endParaRPr/>
          </a:p>
          <a:p>
            <a:pPr marL="2160000" lvl="4" indent="-2160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Пятый уровень структуры</a:t>
            </a:r>
            <a:endParaRPr/>
          </a:p>
          <a:p>
            <a:pPr marL="2592000" lvl="5" indent="-2160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Шестой уровень структуры</a:t>
            </a:r>
            <a:endParaRPr/>
          </a:p>
          <a:p>
            <a:pPr marL="3024000" lvl="6" indent="-2160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Седьмой уровень структуры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  <a:defRPr/>
            </a:pPr>
            <a:r>
              <a:rPr lang="ru-RU" sz="4400" b="0" strike="noStrike" spc="-1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lang="ru-RU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Образец текста</a:t>
            </a:r>
            <a:endParaRPr/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Второй уровень</a:t>
            </a:r>
            <a:endParaRPr/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Третий уровень</a:t>
            </a:r>
            <a:endParaRPr/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Четвертый уровень</a:t>
            </a:r>
            <a:endParaRPr/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Пятый уровень</a:t>
            </a:r>
            <a:endParaRPr/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 bwMode="auto">
          <a:xfrm>
            <a:off x="837720" y="6356160"/>
            <a:ext cx="274284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ru-RU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  <a:defRPr/>
            </a:pPr>
            <a:r>
              <a:rPr lang="ru-RU" sz="1200" b="0" strike="noStrike" spc="-1">
                <a:solidFill>
                  <a:srgbClr val="8B8B8B"/>
                </a:solidFill>
                <a:latin typeface="Calibri"/>
              </a:rPr>
              <a:t>&lt;дата/время&gt;</a:t>
            </a:r>
            <a:endParaRPr lang="ru-RU" sz="12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 bwMode="auto">
          <a:xfrm>
            <a:off x="4037400" y="6356160"/>
            <a:ext cx="411444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ru-RU" sz="1400" b="0" strike="noStrike" spc="-1">
                <a:latin typeface="Times New Roman"/>
              </a:defRPr>
            </a:lvl1pPr>
          </a:lstStyle>
          <a:p>
            <a:pPr algn="ctr">
              <a:buNone/>
              <a:defRPr/>
            </a:pPr>
            <a:r>
              <a:rPr lang="ru-RU" sz="1400" b="0" strike="noStrike" spc="-1">
                <a:latin typeface="Times New Roman"/>
              </a:rPr>
              <a:t>&lt;нижний колонтитул&gt;</a:t>
            </a:r>
            <a:endParaRPr/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 bwMode="auto">
          <a:xfrm>
            <a:off x="8609760" y="6356160"/>
            <a:ext cx="274284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ru-RU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  <a:defRPr/>
            </a:pPr>
            <a:fld id="{5D055F14-F48E-4168-98EA-A8E7AE705CB2}" type="slidenum">
              <a:rPr lang="ru-RU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ru-RU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 bwMode="auto">
          <a:xfrm>
            <a:off x="1523520" y="1121760"/>
            <a:ext cx="914328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  <a:buNone/>
              <a:defRPr/>
            </a:pPr>
            <a:r>
              <a:rPr lang="ru-RU" sz="6000" b="0" strike="noStrike" spc="-1">
                <a:solidFill>
                  <a:srgbClr val="000000"/>
                </a:solidFill>
                <a:latin typeface="Calibri Light"/>
              </a:rPr>
              <a:t>Класс </a:t>
            </a:r>
            <a:r>
              <a:rPr lang="en-US" sz="6000" b="0" strike="noStrike" spc="0">
                <a:solidFill>
                  <a:srgbClr val="000000"/>
                </a:solidFill>
                <a:latin typeface="Calibri Light"/>
              </a:rPr>
              <a:t>Math</a:t>
            </a:r>
            <a:endParaRPr lang="ru-RU" sz="6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 bwMode="auto">
          <a:xfrm>
            <a:off x="1523520" y="3601800"/>
            <a:ext cx="9143280" cy="1654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buNone/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  <a:defRPr/>
            </a:pPr>
            <a:r>
              <a:rPr lang="ru-RU" sz="4400" b="1" strike="noStrike" spc="-1">
                <a:solidFill>
                  <a:srgbClr val="000000"/>
                </a:solidFill>
                <a:latin typeface="Calibri Light"/>
              </a:rPr>
              <a:t>Класс </a:t>
            </a:r>
            <a:r>
              <a:rPr lang="en-US" sz="4400" b="1" strike="noStrike" spc="0">
                <a:solidFill>
                  <a:srgbClr val="000000"/>
                </a:solidFill>
                <a:latin typeface="Calibri Light"/>
              </a:rPr>
              <a:t>Math</a:t>
            </a:r>
            <a:endParaRPr lang="ru-RU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Для выполнения различных математических операций в библиотеке классов .NET предназначен класс Math. Он является статическим, поэтому все его методы также являются статическими.</a:t>
            </a: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554205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  <a:defRPr/>
            </a:pPr>
            <a:r>
              <a:rPr lang="en-US" sz="4400" b="1" i="0" u="none" strike="noStrike" cap="none" spc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O</a:t>
            </a:r>
            <a:r>
              <a:rPr lang="ru-RU" sz="4400" b="1" i="0" u="none" strike="noStrike" cap="none" spc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сновные методы класса Math</a:t>
            </a:r>
            <a:endParaRPr lang="ru-RU" sz="4400" b="0" strike="noStrike" spc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9945604" name="PlaceHolder 2"/>
          <p:cNvSpPr>
            <a:spLocks noGrp="1"/>
          </p:cNvSpPr>
          <p:nvPr>
            <p:ph/>
          </p:nvPr>
        </p:nvSpPr>
        <p:spPr bwMode="auto">
          <a:xfrm>
            <a:off x="838559" y="1622352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Max(double a, double b): возвращает максимальное число из a и b</a:t>
            </a:r>
            <a:endParaRPr lang="ru-RU" sz="2800" b="0" strike="noStrike" spc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Min(double a, double b): возвращает минимальное число из a и b</a:t>
            </a:r>
            <a:endParaRPr lang="ru-RU" sz="2800" b="0" strike="noStrike" spc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Pow(double a, double b): возвращает число a, возведенное в степень b</a:t>
            </a:r>
            <a:endParaRPr lang="ru-RU" sz="2800" b="0" strike="noStrike" spc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Round(double d): возвращает число d, округленное до ближайшего целого числа</a:t>
            </a:r>
            <a:endParaRPr lang="ru-RU" sz="2800" b="0" strike="noStrike" spc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Truncate(double value): отбрасывает дробную часть числа value, возвращаяя лишь целое значение</a:t>
            </a:r>
            <a:endParaRPr lang="ru-RU" sz="2800" b="0" strike="noStrike" spc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Sqrt(double value): возвращает квадратный корень числа value</a:t>
            </a:r>
            <a:endParaRPr lang="ru-RU" sz="2800" b="0" strike="noStrike" spc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Sign(double value): возвращает число 1, если число value положительное, иначе -1</a:t>
            </a:r>
            <a:endParaRPr lang="ru-RU" sz="2800" b="0" strike="noStrike" spc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6201196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  <a:defRPr/>
            </a:pPr>
            <a:r>
              <a:rPr lang="en-US" sz="4400" b="1" i="0" u="none" strike="noStrike" cap="none" spc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O</a:t>
            </a:r>
            <a:r>
              <a:rPr lang="ru-RU" sz="4400" b="1" i="0" u="none" strike="noStrike" cap="none" spc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сновные методы класса Math</a:t>
            </a:r>
            <a:endParaRPr lang="ru-RU" sz="4400" b="0" strike="noStrike" spc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65122618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Abs(</a:t>
            </a: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double value</a:t>
            </a: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</a:t>
            </a:r>
            <a:r>
              <a:rPr lang="en-US" sz="2800" b="0" strike="noStrike" spc="0">
                <a:solidFill>
                  <a:srgbClr val="000000"/>
                </a:solidFill>
                <a:latin typeface="Calibri"/>
              </a:rPr>
              <a:t> – </a:t>
            </a:r>
            <a:r>
              <a:rPr lang="ru-RU" sz="2800" b="0" strike="noStrike" spc="0">
                <a:solidFill>
                  <a:srgbClr val="000000"/>
                </a:solidFill>
                <a:latin typeface="Calibri"/>
              </a:rPr>
              <a:t>модуль числа</a:t>
            </a:r>
            <a:r>
              <a:rPr lang="ru-RU" sz="2800" b="0" strike="noStrike" spc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800" b="0" strike="noStrike" spc="0">
                <a:solidFill>
                  <a:srgbClr val="000000"/>
                </a:solidFill>
                <a:latin typeface="Calibri"/>
              </a:rPr>
              <a:t>value</a:t>
            </a:r>
            <a:endParaRPr lang="ru-RU" sz="2800" b="0" strike="noStrike" spc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Acos(double value): возвращает арккосинус value</a:t>
            </a:r>
            <a:endParaRPr lang="ru-RU" sz="2800" b="0" strike="noStrike" spc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Asin(double value): возвращает арксинус value</a:t>
            </a:r>
            <a:endParaRPr lang="ru-RU" sz="2800" b="0" strike="noStrike" spc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Atan(double value): возвращает арктангенс value</a:t>
            </a:r>
            <a:endParaRPr lang="ru-RU" sz="2800" b="0" strike="noStrike" spc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Floor</a:t>
            </a: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(double value): </a:t>
            </a:r>
            <a:r>
              <a:rPr lang="ru-RU" sz="2800" b="0" strike="noStrike" spc="0">
                <a:solidFill>
                  <a:srgbClr val="000000"/>
                </a:solidFill>
                <a:latin typeface="Calibri"/>
              </a:rPr>
              <a:t>округление в большую сторону</a:t>
            </a:r>
            <a:endParaRPr lang="ru-RU" sz="2800" b="0" strike="noStrike" spc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Log(double d): возвращает натуральный логарифм числа d</a:t>
            </a:r>
            <a:endParaRPr lang="ru-RU" sz="2800" b="0" strike="noStrike" spc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Log(double a, double newBase): возвращает логарифм числа a по основанию newBase</a:t>
            </a:r>
            <a:endParaRPr lang="ru-RU" sz="2800" b="0" strike="noStrike" spc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  <a:defRPr/>
            </a:pPr>
            <a:r>
              <a:rPr lang="ru-RU" sz="4400" b="1" strike="noStrike" spc="-1">
                <a:solidFill>
                  <a:srgbClr val="000000"/>
                </a:solidFill>
                <a:latin typeface="Calibri Light"/>
              </a:rPr>
              <a:t>Пример</a:t>
            </a:r>
            <a:endParaRPr lang="ru-RU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Объект 2"/>
          <p:cNvSpPr/>
          <p:nvPr/>
        </p:nvSpPr>
        <p:spPr bwMode="auto">
          <a:xfrm>
            <a:off x="837360" y="1689840"/>
            <a:ext cx="10515240" cy="1491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solidFill>
              <a:srgbClr val="5B9BD5">
                <a:lumMod val="75000"/>
              </a:srgbClr>
            </a:solidFill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000" b="0" i="0" u="none">
                <a:solidFill>
                  <a:srgbClr val="006699"/>
                </a:solidFill>
                <a:latin typeface="Arial"/>
                <a:ea typeface="Arial"/>
                <a:cs typeface="Arial"/>
              </a:rPr>
              <a:t>double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radius = 50;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6699"/>
                </a:solidFill>
                <a:latin typeface="Arial"/>
                <a:ea typeface="Arial"/>
                <a:cs typeface="Arial"/>
              </a:rPr>
              <a:t>double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area = Math.PI * Math.Pow(radius, 2);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Console.WriteLine($</a:t>
            </a:r>
            <a:r>
              <a:rPr sz="2000" b="0" i="0" u="none">
                <a:solidFill>
                  <a:srgbClr val="DB003E"/>
                </a:solidFill>
                <a:latin typeface="Arial"/>
                <a:ea typeface="Arial"/>
                <a:cs typeface="Arial"/>
              </a:rPr>
              <a:t>"Площадь круга с радиусом {radius} равна {Math.Round(area,2)}"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);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Площадь круга с радиусом 50 равна 7853,98</a:t>
            </a:r>
            <a:endParaRPr sz="2000"/>
          </a:p>
        </p:txBody>
      </p:sp>
      <p:sp>
        <p:nvSpPr>
          <p:cNvPr id="1670507493" name="Объект 2"/>
          <p:cNvSpPr/>
          <p:nvPr/>
        </p:nvSpPr>
        <p:spPr bwMode="auto">
          <a:xfrm flipH="0" flipV="0">
            <a:off x="838379" y="3720781"/>
            <a:ext cx="10515239" cy="24087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solidFill>
              <a:srgbClr val="5B9BD5">
                <a:lumMod val="75000"/>
              </a:srgbClr>
            </a:solidFill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000" b="0" i="0" u="none">
                <a:solidFill>
                  <a:srgbClr val="006699"/>
                </a:solidFill>
                <a:latin typeface="Arial"/>
                <a:ea typeface="Arial"/>
                <a:cs typeface="Arial"/>
              </a:rPr>
              <a:t>double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result2 = Math.Round(20.46); </a:t>
            </a:r>
            <a:r>
              <a:rPr sz="2000" b="0" i="0" u="none">
                <a:solidFill>
                  <a:srgbClr val="008200"/>
                </a:solidFill>
                <a:latin typeface="Arial"/>
                <a:ea typeface="Arial"/>
                <a:cs typeface="Arial"/>
              </a:rPr>
              <a:t>//20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6699"/>
                </a:solidFill>
                <a:latin typeface="Arial"/>
                <a:ea typeface="Arial"/>
                <a:cs typeface="Arial"/>
              </a:rPr>
              <a:t>double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result1 = Math.Round(20.567, 2); </a:t>
            </a:r>
            <a:r>
              <a:rPr sz="2000" b="0" i="0" u="none">
                <a:solidFill>
                  <a:srgbClr val="008200"/>
                </a:solidFill>
                <a:latin typeface="Arial"/>
                <a:ea typeface="Arial"/>
                <a:cs typeface="Arial"/>
              </a:rPr>
              <a:t>// 20,57</a:t>
            </a:r>
            <a:endParaRPr sz="2000" b="0" i="0" u="none">
              <a:solidFill>
                <a:srgbClr val="0082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sz="2000" b="0" i="0" u="none">
                <a:solidFill>
                  <a:srgbClr val="006699"/>
                </a:solidFill>
                <a:latin typeface="Arial"/>
                <a:ea typeface="Arial"/>
                <a:cs typeface="Arial"/>
              </a:rPr>
              <a:t>double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result2 = Math.Round(20.463, 1); </a:t>
            </a:r>
            <a:r>
              <a:rPr sz="2000" b="0" i="0" u="none">
                <a:solidFill>
                  <a:srgbClr val="008200"/>
                </a:solidFill>
                <a:latin typeface="Arial"/>
                <a:ea typeface="Arial"/>
                <a:cs typeface="Arial"/>
              </a:rPr>
              <a:t>//20,5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6699"/>
                </a:solidFill>
                <a:latin typeface="Arial"/>
                <a:ea typeface="Arial"/>
                <a:cs typeface="Arial"/>
              </a:rPr>
              <a:t>int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result1 = Math.Sign(15); </a:t>
            </a:r>
            <a:r>
              <a:rPr sz="2000" b="0" i="0" u="none">
                <a:solidFill>
                  <a:srgbClr val="008200"/>
                </a:solidFill>
                <a:latin typeface="Arial"/>
                <a:ea typeface="Arial"/>
                <a:cs typeface="Arial"/>
              </a:rPr>
              <a:t>// 1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6699"/>
                </a:solidFill>
                <a:latin typeface="Arial"/>
                <a:ea typeface="Arial"/>
                <a:cs typeface="Arial"/>
              </a:rPr>
              <a:t>int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result2 = Math.Sign(-5); </a:t>
            </a:r>
            <a:r>
              <a:rPr sz="2000" b="0" i="0" u="none">
                <a:solidFill>
                  <a:srgbClr val="008200"/>
                </a:solidFill>
                <a:latin typeface="Arial"/>
                <a:ea typeface="Arial"/>
                <a:cs typeface="Arial"/>
              </a:rPr>
              <a:t>//-1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6699"/>
                </a:solidFill>
                <a:latin typeface="Arial"/>
                <a:ea typeface="Arial"/>
                <a:cs typeface="Arial"/>
              </a:rPr>
              <a:t>double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result = Math.Abs(-12.4); </a:t>
            </a:r>
            <a:r>
              <a:rPr sz="2000" b="0" i="0" u="none">
                <a:solidFill>
                  <a:srgbClr val="008200"/>
                </a:solidFill>
                <a:latin typeface="Arial"/>
                <a:ea typeface="Arial"/>
                <a:cs typeface="Arial"/>
              </a:rPr>
              <a:t>// 12.4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6699"/>
                </a:solidFill>
                <a:latin typeface="Arial"/>
                <a:ea typeface="Arial"/>
                <a:cs typeface="Arial"/>
              </a:rPr>
              <a:t>double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result = Math.Acos(1); </a:t>
            </a:r>
            <a:r>
              <a:rPr sz="2000" b="0" i="0" u="none">
                <a:solidFill>
                  <a:srgbClr val="008200"/>
                </a:solidFill>
                <a:latin typeface="Arial"/>
                <a:ea typeface="Arial"/>
                <a:cs typeface="Arial"/>
              </a:rPr>
              <a:t>// 0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ONLYOFFICE/8.2.2.22</Application>
  <PresentationFormat>On-screen Show (4:3)</PresentationFormat>
  <Paragraphs>0</Paragraphs>
  <Slides>5</Slides>
  <Notes>5</Notes>
  <HiddenSlides>0</HiddenSlides>
  <MMClips>2</MMClips>
  <ScaleCrop>0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Theme 1</vt:lpstr>
      <vt:lpstr>Theme 2</vt:lpstr>
      <vt:lpstr>Slide 1</vt:lpstr>
      <vt:lpstr>Slide 2</vt:lpstr>
      <vt:lpstr>Slide 3</vt:lpstr>
      <vt:lpstr>Slide 4</vt:lpstr>
      <vt:lpstr>Slide 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Элементы управления Win Forms</dc:title>
  <dc:subject/>
  <dc:creator>221</dc:creator>
  <dc:description/>
  <dc:language>ru-RU</dc:language>
  <cp:lastModifiedBy/>
  <cp:revision>28</cp:revision>
  <dcterms:created xsi:type="dcterms:W3CDTF">2025-11-07T06:03:59Z</dcterms:created>
  <dcterms:modified xsi:type="dcterms:W3CDTF">2025-11-28T09:30:43Z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1</vt:i4>
  </property>
  <property fmtid="{D5CDD505-2E9C-101B-9397-08002B2CF9AE}" pid="3" name="PresentationFormat">
    <vt:lpwstr>Широкоэкранный</vt:lpwstr>
  </property>
  <property fmtid="{D5CDD505-2E9C-101B-9397-08002B2CF9AE}" pid="4" name="Slides">
    <vt:i4>28</vt:i4>
  </property>
</Properties>
</file>