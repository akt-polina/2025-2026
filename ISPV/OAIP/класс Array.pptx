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перемещения страницы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ru-RU" sz="2000" spc="-1" strike="noStrike"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ru-RU" sz="1400" spc="-1" strike="noStrike">
                <a:latin typeface="Times New Roman"/>
              </a:rPr>
              <a:t> 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ru-RU" sz="1400" spc="-1" strike="noStrike">
                <a:latin typeface="Times New Roman"/>
              </a:rPr>
              <a:t> 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ru-RU" sz="1400" spc="-1" strike="noStrike">
                <a:latin typeface="Times New Roman"/>
              </a:rPr>
              <a:t> 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8206CC07-8E6F-46FB-9D61-65E2363DA634}" type="slidenum">
              <a:rPr b="0" lang="ru-RU" sz="1400" spc="-1" strike="noStrike">
                <a:latin typeface="Times New Roman"/>
              </a:rPr>
              <a:t>1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06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ru-RU" sz="24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0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ru-RU" sz="24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1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ru-RU" sz="24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1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ru-RU" sz="24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1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ru-RU" sz="24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2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ru-RU" sz="24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-11796480" y="-11796480"/>
            <a:ext cx="11796840" cy="11796840"/>
          </a:xfrm>
          <a:prstGeom prst="rect">
            <a:avLst/>
          </a:prstGeom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2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ru-RU" sz="2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520" cy="132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4037400" y="6356160"/>
            <a:ext cx="4114080" cy="36468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Footer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8609760" y="6356160"/>
            <a:ext cx="2742480" cy="36468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</a:pPr>
            <a:fld id="{BFA2747B-CCED-4D79-AB0D-03DA72FC9F72}" type="slidenum">
              <a:rPr b="0" lang="ru-RU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/>
          </p:nvPr>
        </p:nvSpPr>
        <p:spPr>
          <a:xfrm>
            <a:off x="837720" y="6356160"/>
            <a:ext cx="2742480" cy="36468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endParaRPr b="0" lang="ru-RU" sz="2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/>
          </p:nvPr>
        </p:nvSpPr>
        <p:spPr>
          <a:xfrm>
            <a:off x="4037400" y="6356160"/>
            <a:ext cx="4114080" cy="36468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Footer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/>
          </p:nvPr>
        </p:nvSpPr>
        <p:spPr>
          <a:xfrm>
            <a:off x="8609760" y="6356160"/>
            <a:ext cx="2742480" cy="36468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</a:pPr>
            <a:fld id="{0DEAC2B4-C5B7-453D-B20B-0B71C03461A0}" type="slidenum">
              <a:rPr b="0" lang="ru-RU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7720" y="6356160"/>
            <a:ext cx="2742480" cy="36468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endParaRPr b="0" lang="ru-RU" sz="2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1523520" y="1121760"/>
            <a:ext cx="9142920" cy="238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b">
            <a:noAutofit/>
          </a:bodyPr>
          <a:p>
            <a:pPr algn="ctr">
              <a:lnSpc>
                <a:spcPct val="90000"/>
              </a:lnSpc>
            </a:pPr>
            <a:r>
              <a:rPr b="0" lang="ru-RU" sz="60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Класс Array</a:t>
            </a:r>
            <a:endParaRPr b="0" lang="ru-RU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1523520" y="3601800"/>
            <a:ext cx="9142920" cy="1654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837720" y="364680"/>
            <a:ext cx="10514520" cy="1324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Что это и зачем надо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837720" y="1825200"/>
            <a:ext cx="10514520" cy="4350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just">
              <a:lnSpc>
                <a:spcPct val="90000"/>
              </a:lnSpc>
              <a:spcBef>
                <a:spcPts val="1001"/>
              </a:spcBef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Все массивы в C# построены на основе класса Array из пространства имен System.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CustomShape 3"/>
          <p:cNvSpPr/>
          <p:nvPr/>
        </p:nvSpPr>
        <p:spPr>
          <a:xfrm>
            <a:off x="901800" y="3141720"/>
            <a:ext cx="10514520" cy="30340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600">
            <a:solidFill>
              <a:schemeClr val="tx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457200" algn="just">
              <a:lnSpc>
                <a:spcPct val="90000"/>
              </a:lnSpc>
              <a:spcBef>
                <a:spcPts val="1001"/>
              </a:spcBef>
            </a:pPr>
            <a:r>
              <a:rPr b="0" lang="ru-RU" sz="2800" spc="-1" strike="noStrike">
                <a:solidFill>
                  <a:srgbClr val="385623"/>
                </a:solidFill>
                <a:latin typeface="Calibri"/>
                <a:ea typeface="Calibri"/>
              </a:rPr>
              <a:t>//пустой массив целых чисел из 4-х элементов</a:t>
            </a:r>
            <a:endParaRPr b="0" lang="ru-RU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spcBef>
                <a:spcPts val="1001"/>
              </a:spcBef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int[] nums = new int[4];</a:t>
            </a:r>
            <a:endParaRPr b="0" lang="ru-RU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spcBef>
                <a:spcPts val="1001"/>
              </a:spcBef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int[] digits = {0, 1, 2, 3, 4, 5};</a:t>
            </a:r>
            <a:endParaRPr b="0" lang="ru-RU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spcBef>
                <a:spcPts val="1001"/>
              </a:spcBef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string[]  names = {</a:t>
            </a:r>
            <a:r>
              <a:rPr b="0" lang="ru-RU" sz="2800" spc="-1" strike="noStrike">
                <a:solidFill>
                  <a:srgbClr val="843c0b"/>
                </a:solidFill>
                <a:latin typeface="Calibri"/>
                <a:ea typeface="Calibri"/>
              </a:rPr>
              <a:t>"Катя"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, </a:t>
            </a:r>
            <a:r>
              <a:rPr b="0" lang="ru-RU" sz="2800" spc="-1" strike="noStrike">
                <a:solidFill>
                  <a:srgbClr val="843c0b"/>
                </a:solidFill>
                <a:latin typeface="Calibri"/>
                <a:ea typeface="Calibri"/>
              </a:rPr>
              <a:t>"Алиса"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, </a:t>
            </a:r>
            <a:r>
              <a:rPr b="0" lang="ru-RU" sz="2800" spc="-1" strike="noStrike">
                <a:solidFill>
                  <a:srgbClr val="843c0b"/>
                </a:solidFill>
                <a:latin typeface="Calibri"/>
                <a:ea typeface="Calibri"/>
              </a:rPr>
              <a:t>"Иван"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};</a:t>
            </a:r>
            <a:endParaRPr b="0" lang="ru-RU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spcBef>
                <a:spcPts val="1001"/>
              </a:spcBef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CW(names[0]); </a:t>
            </a:r>
            <a:r>
              <a:rPr b="0" lang="ru-RU" sz="2800" spc="-1" strike="noStrike">
                <a:solidFill>
                  <a:srgbClr val="385623"/>
                </a:solidFill>
                <a:latin typeface="Calibri"/>
                <a:ea typeface="Calibri"/>
              </a:rPr>
              <a:t>//Катя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Shape 1"/>
          <p:cNvSpPr txBox="1"/>
          <p:nvPr/>
        </p:nvSpPr>
        <p:spPr>
          <a:xfrm>
            <a:off x="837720" y="364680"/>
            <a:ext cx="10514520" cy="1324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Что это и зачем надо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Shape 2"/>
          <p:cNvSpPr txBox="1"/>
          <p:nvPr/>
        </p:nvSpPr>
        <p:spPr>
          <a:xfrm>
            <a:off x="837720" y="1825200"/>
            <a:ext cx="10514520" cy="4350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marL="394200" indent="-393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Свойство </a:t>
            </a:r>
            <a:r>
              <a:rPr b="1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Length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возвращает длину массива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394200" indent="-393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Свойство </a:t>
            </a:r>
            <a:r>
              <a:rPr b="1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Rank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возвращает размерность массива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1" marL="394200" indent="-3938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int BinarySearch (Array array, object? value)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 выполняет бинарный поиск в </a:t>
            </a:r>
            <a:r>
              <a:rPr b="1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отсортированном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 массиве и возвращает индекс найденного элемента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CustomShape 3"/>
          <p:cNvSpPr/>
          <p:nvPr/>
        </p:nvSpPr>
        <p:spPr>
          <a:xfrm>
            <a:off x="901800" y="4000680"/>
            <a:ext cx="10514520" cy="188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600">
            <a:solidFill>
              <a:schemeClr val="tx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string[] names = { </a:t>
            </a:r>
            <a:r>
              <a:rPr b="0" lang="ru-RU" sz="2800" spc="-1" strike="noStrike">
                <a:solidFill>
                  <a:srgbClr val="843c0b"/>
                </a:solidFill>
                <a:latin typeface="Calibri"/>
                <a:ea typeface="Calibri"/>
              </a:rPr>
              <a:t>"Катя"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, </a:t>
            </a:r>
            <a:r>
              <a:rPr b="0" lang="ru-RU" sz="2800" spc="-1" strike="noStrike">
                <a:solidFill>
                  <a:srgbClr val="843c0b"/>
                </a:solidFill>
                <a:latin typeface="Calibri"/>
                <a:ea typeface="Calibri"/>
              </a:rPr>
              <a:t>"Алиса"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, </a:t>
            </a:r>
            <a:r>
              <a:rPr b="0" lang="ru-RU" sz="2800" spc="-1" strike="noStrike">
                <a:solidFill>
                  <a:srgbClr val="843c0b"/>
                </a:solidFill>
                <a:latin typeface="Calibri"/>
                <a:ea typeface="Calibri"/>
              </a:rPr>
              <a:t>"Иван"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 };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Array.Sort(names);</a:t>
            </a:r>
            <a:r>
              <a:rPr b="0" lang="ru-RU" sz="2800" spc="-1" strike="noStrike">
                <a:solidFill>
                  <a:srgbClr val="385623"/>
                </a:solidFill>
                <a:latin typeface="Calibri"/>
                <a:ea typeface="Calibri"/>
              </a:rPr>
              <a:t>//сортировка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Console.WriteLine( Array.BinarySearch(names, </a:t>
            </a:r>
            <a:r>
              <a:rPr b="0" lang="ru-RU" sz="2800" spc="-1" strike="noStrike">
                <a:solidFill>
                  <a:srgbClr val="843c0b"/>
                </a:solidFill>
                <a:latin typeface="Calibri"/>
                <a:ea typeface="Calibri"/>
              </a:rPr>
              <a:t>"Катя"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));</a:t>
            </a:r>
            <a:r>
              <a:rPr b="0" lang="ru-RU" sz="2800" spc="-1" strike="noStrike">
                <a:solidFill>
                  <a:srgbClr val="385623"/>
                </a:solidFill>
                <a:latin typeface="Calibri"/>
                <a:ea typeface="Calibri"/>
              </a:rPr>
              <a:t>//2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837720" y="364680"/>
            <a:ext cx="10514520" cy="1324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Что это и зачем надо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Shape 2"/>
          <p:cNvSpPr txBox="1"/>
          <p:nvPr/>
        </p:nvSpPr>
        <p:spPr>
          <a:xfrm>
            <a:off x="837720" y="1825200"/>
            <a:ext cx="10514520" cy="4350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marL="394200" indent="-393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void Clear (Array array)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 очищает массив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394200" indent="-393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void Copy (Array sourceArray, int sourceIndex, Array destinationArray, int destinationIndex, int length)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 копирует из массива sourceArray начиная с индекс sourceIndex length элементов в массив destinationArray начиная с индекса destinationIndex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394200" indent="-393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void Fill&lt;T&gt; (T[] array, T value)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 заполняет массив array значением value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394200" indent="-393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int IndexOf (Array array, object? value)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 возвращает индекс первого вхождения элемента в массив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837720" y="364680"/>
            <a:ext cx="10514520" cy="1324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Что это и зачем надо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Shape 2"/>
          <p:cNvSpPr txBox="1"/>
          <p:nvPr/>
        </p:nvSpPr>
        <p:spPr>
          <a:xfrm>
            <a:off x="837720" y="1825200"/>
            <a:ext cx="10514520" cy="4350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marL="195840" indent="-19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rgbClr val="000000"/>
                </a:solidFill>
                <a:latin typeface="Arial"/>
                <a:ea typeface="Arial"/>
              </a:rPr>
              <a:t>int LastIndexOf (Array array, object? value) </a:t>
            </a: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Arial"/>
              </a:rPr>
              <a:t>возвращает индекс последнего вхождения элемента в массив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195840" indent="-19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rgbClr val="000000"/>
                </a:solidFill>
                <a:latin typeface="Arial"/>
                <a:ea typeface="Arial"/>
              </a:rPr>
              <a:t>void Resize&lt;T&gt; (ref T[]? array, int newSize) </a:t>
            </a: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Arial"/>
              </a:rPr>
              <a:t>изменяет размер одномерного массива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195840" indent="-19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rgbClr val="000000"/>
                </a:solidFill>
                <a:latin typeface="Arial"/>
                <a:ea typeface="Arial"/>
              </a:rPr>
              <a:t>void Reverse (Array array)</a:t>
            </a: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Arial"/>
              </a:rPr>
              <a:t> располагает элементы массива в обратном порядке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195840" indent="-1954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2800" spc="-1" strike="noStrike">
                <a:solidFill>
                  <a:srgbClr val="000000"/>
                </a:solidFill>
                <a:latin typeface="Arial"/>
                <a:ea typeface="Arial"/>
              </a:rPr>
              <a:t>void Sort (Array array)</a:t>
            </a: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Arial"/>
              </a:rPr>
              <a:t> сортирует элементы одномерного массива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Shape 1"/>
          <p:cNvSpPr txBox="1"/>
          <p:nvPr/>
        </p:nvSpPr>
        <p:spPr>
          <a:xfrm>
            <a:off x="837720" y="364680"/>
            <a:ext cx="10514520" cy="1324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Пример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901800" y="1535040"/>
            <a:ext cx="10514520" cy="49287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600">
            <a:solidFill>
              <a:schemeClr val="tx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string[] people = { </a:t>
            </a:r>
            <a:r>
              <a:rPr b="0" lang="ru-RU" sz="2800" spc="-1" strike="noStrike">
                <a:solidFill>
                  <a:srgbClr val="843c0b"/>
                </a:solidFill>
                <a:latin typeface="Calibri"/>
                <a:ea typeface="Calibri"/>
              </a:rPr>
              <a:t>"Катя", "Алиса", "Иван"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,  </a:t>
            </a:r>
            <a:r>
              <a:rPr b="0" lang="ru-RU" sz="2800" spc="-1" strike="noStrike">
                <a:solidFill>
                  <a:srgbClr val="843c0b"/>
                </a:solidFill>
                <a:latin typeface="Calibri"/>
                <a:ea typeface="Calibri"/>
              </a:rPr>
              <a:t>"Катя"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 };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800" spc="-1" strike="noStrike">
                <a:solidFill>
                  <a:srgbClr val="385623"/>
                </a:solidFill>
                <a:latin typeface="Calibri"/>
                <a:ea typeface="Calibri"/>
              </a:rPr>
              <a:t>// находим индекс первого элемента "Катя"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int firstIndex = Array.IndexOf(people, </a:t>
            </a:r>
            <a:r>
              <a:rPr b="0" lang="ru-RU" sz="2800" spc="-1" strike="noStrike">
                <a:solidFill>
                  <a:srgbClr val="843c0b"/>
                </a:solidFill>
                <a:latin typeface="Calibri"/>
                <a:ea typeface="Calibri"/>
              </a:rPr>
              <a:t>"Катя"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);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800" spc="-1" strike="noStrike">
                <a:solidFill>
                  <a:srgbClr val="385623"/>
                </a:solidFill>
                <a:latin typeface="Calibri"/>
                <a:ea typeface="Calibri"/>
              </a:rPr>
              <a:t>// находим индекс последнего элемента "Катя"</a:t>
            </a:r>
            <a:r>
              <a:rPr b="0" lang="ru-RU" sz="2800" spc="-1" strike="noStrike">
                <a:solidFill>
                  <a:srgbClr val="385623"/>
                </a:solidFill>
                <a:latin typeface="Calibri"/>
                <a:ea typeface="DejaVu Sans"/>
              </a:rPr>
              <a:t>;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int lastIndex = Array.LastIndexOf(people, </a:t>
            </a:r>
            <a:r>
              <a:rPr b="0" lang="ru-RU" sz="2800" spc="-1" strike="noStrike">
                <a:solidFill>
                  <a:srgbClr val="843c0b"/>
                </a:solidFill>
                <a:latin typeface="Calibri"/>
                <a:ea typeface="Calibri"/>
              </a:rPr>
              <a:t>"Катя"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);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Console.WriteLine($"firstIndex: {firstIndex}");      </a:t>
            </a:r>
            <a:r>
              <a:rPr b="0" lang="ru-RU" sz="2800" spc="-1" strike="noStrike">
                <a:solidFill>
                  <a:srgbClr val="385623"/>
                </a:solidFill>
                <a:latin typeface="Calibri"/>
                <a:ea typeface="Calibri"/>
              </a:rPr>
              <a:t> // 0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Console.WriteLine($"lastIndex: {lastIndex}");         </a:t>
            </a:r>
            <a:r>
              <a:rPr b="0" lang="ru-RU" sz="2800" spc="-1" strike="noStrike">
                <a:solidFill>
                  <a:srgbClr val="385623"/>
                </a:solidFill>
                <a:latin typeface="Calibri"/>
                <a:ea typeface="Calibri"/>
              </a:rPr>
              <a:t>// 3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800" spc="-1" strike="noStrike">
                <a:solidFill>
                  <a:srgbClr val="385623"/>
                </a:solidFill>
                <a:latin typeface="Calibri"/>
                <a:ea typeface="Calibri"/>
              </a:rPr>
              <a:t>//перевернет массив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Array.Reverse(people);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800" spc="-1" strike="noStrike">
                <a:solidFill>
                  <a:srgbClr val="385623"/>
                </a:solidFill>
                <a:latin typeface="Calibri"/>
                <a:ea typeface="Calibri"/>
              </a:rPr>
              <a:t>// изменяем порядок 3 элементов начиная c индекса 1 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Calibri"/>
              </a:rPr>
              <a:t>Array.Reverse(people, 1, 3);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837720" y="364680"/>
            <a:ext cx="10514520" cy="1324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Задание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Shape 2"/>
          <p:cNvSpPr txBox="1"/>
          <p:nvPr/>
        </p:nvSpPr>
        <p:spPr>
          <a:xfrm>
            <a:off x="837720" y="1825200"/>
            <a:ext cx="10514520" cy="4350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marL="195840" indent="-19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Arial"/>
              </a:rPr>
              <a:t>Пользователь вводит массив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195840" indent="-19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Arial"/>
              </a:rPr>
              <a:t>Вывести массив в обратном порядке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195840" indent="-19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Arial"/>
              </a:rPr>
              <a:t>Вывести размер массива и кол-во элементов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195840" indent="-19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Arial"/>
              </a:rPr>
              <a:t>Пользователь вводит символ, отобразить первое и последнее вхождение символа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LibreOffice/6.2.5.2$Windows_X86_64 LibreOffice_project/1ec314fa52f458adc18c4f025c545a4e8b22c159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2025-11-07T06:03:59Z</dcterms:created>
  <dc:creator>221</dc:creator>
  <dc:description/>
  <dc:language>ru-RU</dc:language>
  <cp:lastModifiedBy/>
  <dcterms:modified xsi:type="dcterms:W3CDTF">2025-12-05T12:24:14Z</dcterms:modified>
  <cp:revision>37</cp:revision>
  <dc:subject/>
  <dc:title>Элементы управления Win Forms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i4>2</vt:i4>
  </property>
  <property fmtid="{D5CDD505-2E9C-101B-9397-08002B2CF9AE}" pid="6" name="Notes">
    <vt:i4>6</vt:i4>
  </property>
  <property fmtid="{D5CDD505-2E9C-101B-9397-08002B2CF9AE}" pid="7" name="PresentationFormat">
    <vt:lpwstr>On-screen Show (4:3)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i4>6</vt:i4>
  </property>
</Properties>
</file>