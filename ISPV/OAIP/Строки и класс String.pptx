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61" r:id="rId2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7559675" cy="10691813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80" d="100"/>
          <a:sy n="80" d="100"/>
        </p:scale>
        <p:origin x="-96" y="-588"/>
      </p:cViewPr>
      <p:guideLst>
        <p:guide pos="2160" orient="horz"/>
        <p:guide pos="384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5A915B-372C-7E1C-1BE7-8B4C3EF320EA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979F24-00AF-8ED4-031F-8FBE818A369A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3201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41931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1977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A32C8-E52C-678A-03CF-B328B48D36EE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8423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53406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1382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87DEA1-0EFD-FBD3-D704-A104EF990833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25974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19279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7499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7B951B-DD77-9B1C-872B-914BE3771B5E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25014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3404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70926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0ABBA8-2853-56B7-9B43-E1573DFF3508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868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5905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9745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B0BC85-7B19-7A51-5BDF-3E2EAF74E657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3553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1742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2262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04C513-BDF8-D686-E1BA-D69E792F7091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8764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3193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1172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E3EDF1-ED38-F42F-8E13-E9FD4F7D5B3E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E25A050E-B292-4F72-A184-96D4176787AE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A6EC15B2-BEA9-440B-B22E-7413D22075D8}" type="slidenum">
              <a:rPr/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282B2E7F-BDA1-4C3A-913C-615331DE3A99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95609780-BCDC-47F6-93AF-301452CFBAC1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0BA5F822-A706-4293-AA7B-3806FC0597D7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 bwMode="auto">
          <a:xfrm>
            <a:off x="837720" y="364680"/>
            <a:ext cx="1051488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7D3CE60B-EF35-4EE6-ADF5-263041FA475E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6786AEA3-35B0-45D9-A548-344D191806CC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 bwMode="auto">
          <a:xfrm>
            <a:off x="622584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3E0A7B00-51DA-4527-BCC4-D65185E73041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2892BC66-77E0-4E7D-BAD0-1A6091598884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466A52AF-E890-4BF5-856A-18A43F44C75C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 bwMode="auto">
          <a:xfrm>
            <a:off x="622584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46B07EF8-5225-4594-827D-FCC915E36607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 bwMode="auto">
          <a:xfrm>
            <a:off x="439272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 bwMode="auto">
          <a:xfrm>
            <a:off x="794808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 bwMode="auto">
          <a:xfrm>
            <a:off x="439272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 bwMode="auto">
          <a:xfrm>
            <a:off x="794808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17D9F43A-C5FF-433B-8437-E78F298A5D0F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E526D618-988B-4763-9DAF-E60E2D1755E0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87D9A214-15E8-418C-BCC4-808BF47A641E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F0243474-5E44-4831-90F6-ED6024297AFD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9131BCE6-FCE0-4B20-8251-53179FF43D47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79037520-6FDD-49E8-98CA-C75C3D3B9296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 bwMode="auto">
          <a:xfrm>
            <a:off x="837720" y="364680"/>
            <a:ext cx="1051488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66D6F475-ADCC-46EF-A005-F4879B2578B8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6CD5C2D5-AFEB-4203-B6BB-3234BBC07EA1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 bwMode="auto">
          <a:xfrm>
            <a:off x="622584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781A4DE3-40EC-4775-B26B-E69707F5046C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8BB66AD6-105A-48D8-ADAF-C89BBC1512CA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C8318770-969A-42FE-A814-B1EA1B815BC2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 bwMode="auto">
          <a:xfrm>
            <a:off x="622584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D377A456-32CE-419A-AEEB-843B80E73633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 bwMode="auto">
          <a:xfrm>
            <a:off x="439272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 bwMode="auto">
          <a:xfrm>
            <a:off x="794808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 bwMode="auto">
          <a:xfrm>
            <a:off x="439272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 bwMode="auto">
          <a:xfrm>
            <a:off x="794808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D45C532E-DC8A-4FC3-AFE1-B5E430FCF083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1523520" y="1121760"/>
            <a:ext cx="914328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  <a:buNone/>
              <a:defRPr/>
            </a:pPr>
            <a:r>
              <a:rPr lang="ru-RU" sz="60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 bwMode="auto">
          <a:xfrm>
            <a:off x="837720" y="6356160"/>
            <a:ext cx="27428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ru-RU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  <a:defRPr/>
            </a:pPr>
            <a:r>
              <a:rPr lang="ru-RU" sz="1200" b="0" strike="noStrike" spc="-1">
                <a:solidFill>
                  <a:srgbClr val="8B8B8B"/>
                </a:solidFill>
                <a:latin typeface="Calibri"/>
              </a:rPr>
              <a:t> </a:t>
            </a:r>
            <a:endParaRPr lang="ru-RU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 bwMode="auto">
          <a:xfrm>
            <a:off x="4037400" y="6356160"/>
            <a:ext cx="41144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ru-RU" sz="1400" b="0" strike="noStrike" spc="-1">
                <a:latin typeface="Times New Roman"/>
              </a:defRPr>
            </a:lvl1pPr>
          </a:lstStyle>
          <a:p>
            <a:pPr algn="ctr">
              <a:buNone/>
              <a:defRPr/>
            </a:pPr>
            <a:r>
              <a:rPr lang="ru-RU" sz="1400" b="0" strike="noStrike" spc="-1">
                <a:latin typeface="Times New Roman"/>
              </a:rPr>
              <a:t> </a:t>
            </a:r>
            <a:endParaRPr/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 bwMode="auto">
          <a:xfrm>
            <a:off x="8609760" y="6356160"/>
            <a:ext cx="27428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ru-RU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  <a:defRPr/>
            </a:pPr>
            <a:fld id="{10E352E6-A6A2-4F6F-B46A-F48437F8FBAC}" type="slidenum">
              <a:rPr lang="ru-RU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 bwMode="auto">
          <a:xfrm>
            <a:off x="609120" y="1603800"/>
            <a:ext cx="10972079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09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/>
          </a:p>
          <a:p>
            <a:pPr marL="864000" lvl="1" indent="-3240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/>
          </a:p>
          <a:p>
            <a:pPr marL="1296000" lvl="2" indent="-2880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/>
          </a:p>
          <a:p>
            <a:pPr marL="1728000" lvl="3" indent="-2160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/>
          </a:p>
          <a:p>
            <a:pPr marL="2160000" lvl="4" indent="-2160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/>
          </a:p>
          <a:p>
            <a:pPr marL="2592000" lvl="5" indent="-2160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/>
          </a:p>
          <a:p>
            <a:pPr marL="3024000" lvl="6" indent="-2160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  <a:endParaRPr/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Второй уровень</a:t>
            </a:r>
            <a:endParaRPr/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Третий уровень</a:t>
            </a:r>
            <a:endParaRPr/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Четвертый уровень</a:t>
            </a:r>
            <a:endParaRPr/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Пятый уровень</a:t>
            </a:r>
            <a:endParaRPr/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 bwMode="auto">
          <a:xfrm>
            <a:off x="837720" y="6356160"/>
            <a:ext cx="27428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ru-RU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  <a:defRPr/>
            </a:pPr>
            <a:r>
              <a:rPr lang="ru-RU" sz="1200" b="0" strike="noStrike" spc="-1">
                <a:solidFill>
                  <a:srgbClr val="8B8B8B"/>
                </a:solidFill>
                <a:latin typeface="Calibri"/>
              </a:rPr>
              <a:t>&lt;дата/время&gt;</a:t>
            </a:r>
            <a:endParaRPr lang="ru-RU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 bwMode="auto">
          <a:xfrm>
            <a:off x="4037400" y="6356160"/>
            <a:ext cx="41144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ru-RU" sz="1400" b="0" strike="noStrike" spc="-1">
                <a:latin typeface="Times New Roman"/>
              </a:defRPr>
            </a:lvl1pPr>
          </a:lstStyle>
          <a:p>
            <a:pPr algn="ctr">
              <a:buNone/>
              <a:defRPr/>
            </a:pPr>
            <a:r>
              <a:rPr lang="ru-RU" sz="1400" b="0" strike="noStrike" spc="-1">
                <a:latin typeface="Times New Roman"/>
              </a:rPr>
              <a:t>&lt;нижний колонтитул&gt;</a:t>
            </a:r>
            <a:endParaRPr/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 bwMode="auto">
          <a:xfrm>
            <a:off x="8609760" y="6356160"/>
            <a:ext cx="27428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ru-RU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  <a:defRPr/>
            </a:pPr>
            <a:fld id="{5D055F14-F48E-4168-98EA-A8E7AE705CB2}" type="slidenum">
              <a:rPr lang="ru-RU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ru-RU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 bwMode="auto">
          <a:xfrm>
            <a:off x="1523520" y="1121760"/>
            <a:ext cx="914328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  <a:buNone/>
              <a:defRPr/>
            </a:pPr>
            <a:r>
              <a:rPr lang="ru-RU" sz="6000" b="0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Строки и класс String</a:t>
            </a:r>
            <a:endParaRPr lang="ru-RU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 bwMode="auto">
          <a:xfrm>
            <a:off x="1523520" y="360180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strike="noStrike" spc="0">
                <a:solidFill>
                  <a:srgbClr val="000000"/>
                </a:solidFill>
                <a:latin typeface="Calibri Light"/>
              </a:rPr>
              <a:t>Класс </a:t>
            </a:r>
            <a:r>
              <a:rPr lang="en-US" sz="4400" b="1" strike="noStrike" spc="-1">
                <a:solidFill>
                  <a:srgbClr val="000000"/>
                </a:solidFill>
                <a:latin typeface="Calibri Light"/>
              </a:rPr>
              <a:t>String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В языке C# строковые значения представляет тип </a:t>
            </a:r>
            <a:r>
              <a:rPr lang="ru-RU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string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а вся функциональность работы с данным типом сосредоточена в классе </a:t>
            </a:r>
            <a:r>
              <a:rPr lang="ru-RU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System.String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 Собственно string является псевдонимом для класса String. Объекты этого класса представляют текст как последовательность символов Unicode. Максимальный размер объекта String может составлять в памяти 2 ГБ, или около 1 миллиарда символов.</a:t>
            </a: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2276971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Создание строк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9989481" name="Объект 2"/>
          <p:cNvSpPr/>
          <p:nvPr/>
        </p:nvSpPr>
        <p:spPr bwMode="auto">
          <a:xfrm flipH="0" flipV="0">
            <a:off x="837720" y="1815780"/>
            <a:ext cx="10515238" cy="30525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rgbClr val="5B9BD5">
                <a:lumMod val="75000"/>
              </a:srgbClr>
            </a:solidFill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string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s1 = </a:t>
            </a:r>
            <a:r>
              <a:rPr sz="2000" b="0" i="0" u="none">
                <a:solidFill>
                  <a:srgbClr val="DB003E"/>
                </a:solidFill>
                <a:latin typeface="Arial"/>
                <a:ea typeface="Arial"/>
                <a:cs typeface="Arial"/>
              </a:rPr>
              <a:t>"hello"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;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string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s2 = </a:t>
            </a: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new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String(</a:t>
            </a:r>
            <a:r>
              <a:rPr sz="2000" b="0" i="0" u="none">
                <a:solidFill>
                  <a:srgbClr val="DB003E"/>
                </a:solidFill>
                <a:latin typeface="Arial"/>
                <a:ea typeface="Arial"/>
                <a:cs typeface="Arial"/>
              </a:rPr>
              <a:t>'a'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, 6); </a:t>
            </a:r>
            <a:r>
              <a:rPr sz="2000" b="0" i="0" u="none">
                <a:solidFill>
                  <a:srgbClr val="008200"/>
                </a:solidFill>
                <a:latin typeface="Arial"/>
                <a:ea typeface="Arial"/>
                <a:cs typeface="Arial"/>
              </a:rPr>
              <a:t>// результатом будет строка "aaaaaa"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string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s3 = </a:t>
            </a: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new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String(</a:t>
            </a: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new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char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[] { </a:t>
            </a:r>
            <a:r>
              <a:rPr sz="2000" b="0" i="0" u="none">
                <a:solidFill>
                  <a:srgbClr val="DB003E"/>
                </a:solidFill>
                <a:latin typeface="Arial"/>
                <a:ea typeface="Arial"/>
                <a:cs typeface="Arial"/>
              </a:rPr>
              <a:t>'w'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2000" b="0" i="0" u="none">
                <a:solidFill>
                  <a:srgbClr val="DB003E"/>
                </a:solidFill>
                <a:latin typeface="Arial"/>
                <a:ea typeface="Arial"/>
                <a:cs typeface="Arial"/>
              </a:rPr>
              <a:t>'o'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2000" b="0" i="0" u="none">
                <a:solidFill>
                  <a:srgbClr val="DB003E"/>
                </a:solidFill>
                <a:latin typeface="Arial"/>
                <a:ea typeface="Arial"/>
                <a:cs typeface="Arial"/>
              </a:rPr>
              <a:t>'r'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2000" b="0" i="0" u="none">
                <a:solidFill>
                  <a:srgbClr val="DB003E"/>
                </a:solidFill>
                <a:latin typeface="Arial"/>
                <a:ea typeface="Arial"/>
                <a:cs typeface="Arial"/>
              </a:rPr>
              <a:t>'l'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2000" b="0" i="0" u="none">
                <a:solidFill>
                  <a:srgbClr val="DB003E"/>
                </a:solidFill>
                <a:latin typeface="Arial"/>
                <a:ea typeface="Arial"/>
                <a:cs typeface="Arial"/>
              </a:rPr>
              <a:t>'d'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});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string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s4 = </a:t>
            </a: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new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String(</a:t>
            </a: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new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char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[] { </a:t>
            </a:r>
            <a:r>
              <a:rPr sz="2000" b="0" i="0" u="none">
                <a:solidFill>
                  <a:srgbClr val="DB003E"/>
                </a:solidFill>
                <a:latin typeface="Arial"/>
                <a:ea typeface="Arial"/>
                <a:cs typeface="Arial"/>
              </a:rPr>
              <a:t>'w'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2000" b="0" i="0" u="none">
                <a:solidFill>
                  <a:srgbClr val="DB003E"/>
                </a:solidFill>
                <a:latin typeface="Arial"/>
                <a:ea typeface="Arial"/>
                <a:cs typeface="Arial"/>
              </a:rPr>
              <a:t>'o'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2000" b="0" i="0" u="none">
                <a:solidFill>
                  <a:srgbClr val="DB003E"/>
                </a:solidFill>
                <a:latin typeface="Arial"/>
                <a:ea typeface="Arial"/>
                <a:cs typeface="Arial"/>
              </a:rPr>
              <a:t>'r'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2000" b="0" i="0" u="none">
                <a:solidFill>
                  <a:srgbClr val="DB003E"/>
                </a:solidFill>
                <a:latin typeface="Arial"/>
                <a:ea typeface="Arial"/>
                <a:cs typeface="Arial"/>
              </a:rPr>
              <a:t>'l'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2000" b="0" i="0" u="none">
                <a:solidFill>
                  <a:srgbClr val="DB003E"/>
                </a:solidFill>
                <a:latin typeface="Arial"/>
                <a:ea typeface="Arial"/>
                <a:cs typeface="Arial"/>
              </a:rPr>
              <a:t>'d'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}, 1, 3); </a:t>
            </a:r>
            <a:r>
              <a:rPr sz="2000" b="0" i="0" u="none">
                <a:solidFill>
                  <a:srgbClr val="008200"/>
                </a:solidFill>
                <a:latin typeface="Arial"/>
                <a:ea typeface="Arial"/>
                <a:cs typeface="Arial"/>
              </a:rPr>
              <a:t>// orl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Console.WriteLine(s1);  </a:t>
            </a:r>
            <a:r>
              <a:rPr sz="2000" b="0" i="0" u="none">
                <a:solidFill>
                  <a:srgbClr val="008200"/>
                </a:solidFill>
                <a:latin typeface="Arial"/>
                <a:ea typeface="Arial"/>
                <a:cs typeface="Arial"/>
              </a:rPr>
              <a:t>// hello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Console.WriteLine(s2);  </a:t>
            </a:r>
            <a:r>
              <a:rPr sz="2000" b="0" i="0" u="none">
                <a:solidFill>
                  <a:srgbClr val="008200"/>
                </a:solidFill>
                <a:latin typeface="Arial"/>
                <a:ea typeface="Arial"/>
                <a:cs typeface="Arial"/>
              </a:rPr>
              <a:t>// aaaaaaa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Console.WriteLine(s3);  </a:t>
            </a:r>
            <a:r>
              <a:rPr sz="2000" b="0" i="0" u="none">
                <a:solidFill>
                  <a:srgbClr val="008200"/>
                </a:solidFill>
                <a:latin typeface="Arial"/>
                <a:ea typeface="Arial"/>
                <a:cs typeface="Arial"/>
              </a:rPr>
              <a:t>// world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Console.WriteLine(s4);  </a:t>
            </a:r>
            <a:r>
              <a:rPr sz="2000" b="0" i="0" u="none">
                <a:solidFill>
                  <a:srgbClr val="008200"/>
                </a:solidFill>
                <a:latin typeface="Arial"/>
                <a:ea typeface="Arial"/>
                <a:cs typeface="Arial"/>
              </a:rPr>
              <a:t>// orl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983249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Строка как набор символов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0015999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Так как строка хранит коллекцию символов, в ней определен индексатор для доступа к этим символам:</a:t>
            </a:r>
            <a:endParaRPr lang="ru-RU" sz="28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946907" name="Объект 2"/>
          <p:cNvSpPr/>
          <p:nvPr/>
        </p:nvSpPr>
        <p:spPr bwMode="auto">
          <a:xfrm flipH="0" flipV="0">
            <a:off x="837720" y="2977478"/>
            <a:ext cx="10515239" cy="20407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rgbClr val="5B9BD5">
                <a:lumMod val="75000"/>
              </a:srgbClr>
            </a:solidFill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string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message = </a:t>
            </a:r>
            <a:r>
              <a:rPr sz="2000" b="0" i="0" u="none">
                <a:solidFill>
                  <a:srgbClr val="DB003E"/>
                </a:solidFill>
                <a:latin typeface="Arial"/>
                <a:ea typeface="Arial"/>
                <a:cs typeface="Arial"/>
              </a:rPr>
              <a:t>"hello"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;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8200"/>
                </a:solidFill>
                <a:latin typeface="Arial"/>
                <a:ea typeface="Arial"/>
                <a:cs typeface="Arial"/>
              </a:rPr>
              <a:t>// получаем символ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char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firstChar = message[1]; </a:t>
            </a:r>
            <a:r>
              <a:rPr sz="2000" b="0" i="0" u="none">
                <a:solidFill>
                  <a:srgbClr val="008200"/>
                </a:solidFill>
                <a:latin typeface="Arial"/>
                <a:ea typeface="Arial"/>
                <a:cs typeface="Arial"/>
              </a:rPr>
              <a:t>// символ 'e'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Console.WriteLine(firstChar);   </a:t>
            </a:r>
            <a:r>
              <a:rPr sz="2000" b="0" i="0" u="none">
                <a:solidFill>
                  <a:srgbClr val="008200"/>
                </a:solidFill>
                <a:latin typeface="Arial"/>
                <a:ea typeface="Arial"/>
                <a:cs typeface="Arial"/>
              </a:rPr>
              <a:t>//e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Console.WriteLine(message.Length);  </a:t>
            </a:r>
            <a:r>
              <a:rPr sz="2000" b="0" i="0" u="none">
                <a:solidFill>
                  <a:srgbClr val="008200"/>
                </a:solidFill>
                <a:latin typeface="Arial"/>
                <a:ea typeface="Arial"/>
                <a:cs typeface="Arial"/>
              </a:rPr>
              <a:t>// длина строки 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5054078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Перебор строк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2372427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Строку можно перебрать в цикле foreach как набор объектов char. Также можно с помощью других типов циклов перебрать строку, применяя обращение к символам по индексу:</a:t>
            </a:r>
            <a:endParaRPr lang="ru-RU" sz="28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5496168" name="Объект 2"/>
          <p:cNvSpPr/>
          <p:nvPr/>
        </p:nvSpPr>
        <p:spPr bwMode="auto">
          <a:xfrm flipH="0" flipV="0">
            <a:off x="837720" y="3109769"/>
            <a:ext cx="10515239" cy="34166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rgbClr val="5B9BD5">
                <a:lumMod val="75000"/>
              </a:srgbClr>
            </a:solidFill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string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message = </a:t>
            </a:r>
            <a:r>
              <a:rPr sz="2000" b="0" i="0" u="none">
                <a:solidFill>
                  <a:srgbClr val="DB003E"/>
                </a:solidFill>
                <a:latin typeface="Arial"/>
                <a:ea typeface="Arial"/>
                <a:cs typeface="Arial"/>
              </a:rPr>
              <a:t>"hello"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;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for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(var i =0; i &lt; message.Length; i++)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{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Console.WriteLine(message[i]);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}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foreach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(var ch </a:t>
            </a: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in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message)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{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Console.WriteLine(ch);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}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1550464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Сравнение строк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2624416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Строки можно сравнивать как и переменные других типов</a:t>
            </a:r>
            <a:endParaRPr lang="ru-RU" sz="28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7147745" name="Объект 2"/>
          <p:cNvSpPr/>
          <p:nvPr/>
        </p:nvSpPr>
        <p:spPr bwMode="auto">
          <a:xfrm flipH="0" flipV="0">
            <a:off x="837720" y="2977478"/>
            <a:ext cx="10515239" cy="15380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rgbClr val="5B9BD5">
                <a:lumMod val="75000"/>
              </a:srgbClr>
            </a:solidFill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string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message1 = </a:t>
            </a:r>
            <a:r>
              <a:rPr sz="2000" b="0" i="0" u="none">
                <a:solidFill>
                  <a:srgbClr val="DB003E"/>
                </a:solidFill>
                <a:latin typeface="Arial"/>
                <a:ea typeface="Arial"/>
                <a:cs typeface="Arial"/>
              </a:rPr>
              <a:t>"hello"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;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string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message2 = </a:t>
            </a:r>
            <a:r>
              <a:rPr sz="2000" b="0" i="0" u="none">
                <a:solidFill>
                  <a:srgbClr val="DB003E"/>
                </a:solidFill>
                <a:latin typeface="Arial"/>
                <a:ea typeface="Arial"/>
                <a:cs typeface="Arial"/>
              </a:rPr>
              <a:t>"hello"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;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Console.WriteLine(message1 == message2);    </a:t>
            </a:r>
            <a:r>
              <a:rPr sz="2000" b="0" i="0" u="none">
                <a:solidFill>
                  <a:srgbClr val="008200"/>
                </a:solidFill>
                <a:latin typeface="Arial"/>
                <a:ea typeface="Arial"/>
                <a:cs typeface="Arial"/>
              </a:rPr>
              <a:t>// true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169911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strike="noStrike" spc="0">
                <a:solidFill>
                  <a:srgbClr val="000000"/>
                </a:solidFill>
                <a:latin typeface="Calibri Light"/>
              </a:rPr>
              <a:t>Основные методы строк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4185177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Compare: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сравнивает две строки с учетом локали </a:t>
            </a:r>
            <a:endParaRPr lang="ru-RU" sz="2800" b="0" i="0" u="none" strike="noStrike" cap="none" spc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CompareOrdinal: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сравнивает две строки без учета локали</a:t>
            </a:r>
            <a:endParaRPr lang="ru-RU" sz="2800" b="0" i="0" u="none" strike="noStrike" cap="none" spc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Contains: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определяет, содержится ли подстрока в строке</a:t>
            </a:r>
            <a:endParaRPr lang="ru-RU" sz="2800" b="0" i="0" u="none" strike="noStrike" cap="none" spc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Concat: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соединяет строки</a:t>
            </a:r>
            <a:endParaRPr lang="ru-RU" sz="2800" b="0" i="0" u="none" strike="noStrike" cap="none" spc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EndsWith: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определяет, совпадает ли конец строки с подстрокой</a:t>
            </a:r>
            <a:endParaRPr lang="ru-RU" sz="2800" b="0" i="0" u="none" strike="noStrike" cap="none" spc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IndexOf: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находит индекс первого вхождения символа или подстроки в строке</a:t>
            </a:r>
            <a:endParaRPr lang="ru-RU" sz="2800" b="0" i="0" u="none" strike="noStrike" cap="none" spc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Insert: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вставляет в строку подстроку</a:t>
            </a:r>
            <a:endParaRPr lang="ru-RU" sz="2800" b="0" i="0" u="none" strike="noStrike" cap="none" spc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Join: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соединяет элементы массива строк</a:t>
            </a:r>
            <a:endParaRPr lang="ru-RU" sz="2800" b="0" strike="noStrike" spc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238363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strike="noStrike" spc="0">
                <a:solidFill>
                  <a:srgbClr val="000000"/>
                </a:solidFill>
                <a:latin typeface="Calibri Light"/>
              </a:rPr>
              <a:t>Основные методы строк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09525273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Replace: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замещает в строке символ или подстроку другим символом или подстрокой</a:t>
            </a:r>
            <a:endParaRPr lang="ru-RU" sz="2800" b="0" i="0" u="none" strike="noStrike" cap="none" spc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Split: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разделяет одну строку на массив строк</a:t>
            </a:r>
            <a:endParaRPr lang="ru-RU" sz="2800" b="0" i="0" u="none" strike="noStrike" cap="none" spc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Substring: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извлекает из строки подстроку, начиная с указанной позиции</a:t>
            </a:r>
            <a:endParaRPr lang="ru-RU" sz="2800" b="0" i="0" u="none" strike="noStrike" cap="none" spc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ru-RU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ToLower: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переводит все символы строки в нижний регистр</a:t>
            </a:r>
            <a:endParaRPr lang="ru-RU" sz="2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ToUpper: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переводит все символы строки в верхний регистр</a:t>
            </a:r>
            <a:endParaRPr lang="ru-RU" sz="2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Trim: 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удаляет начальные и конечные пробелы из строки</a:t>
            </a:r>
            <a:endParaRPr lang="ru-RU" sz="2800" b="0" strike="noStrike" spc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935588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strike="noStrike" spc="0">
                <a:solidFill>
                  <a:srgbClr val="000000"/>
                </a:solidFill>
                <a:latin typeface="Calibri Light"/>
              </a:rPr>
              <a:t>Задание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99007384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94023" indent="-394023" algn="just">
              <a:lnSpc>
                <a:spcPct val="90000"/>
              </a:lnSpc>
              <a:spcBef>
                <a:spcPts val="1000"/>
              </a:spcBef>
              <a:buAutoNum type="arabicPeriod"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Пр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оверить является ли введенное пользователем слово палиндромом (читается в обе стороны одинаково) при помощи метода </a:t>
            </a:r>
            <a:r>
              <a:rPr lang="en-US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.Reverse()</a:t>
            </a:r>
            <a:endParaRPr lang="ru-RU" sz="2800" b="0" strike="noStrike" spc="0">
              <a:solidFill>
                <a:srgbClr val="000000"/>
              </a:solidFill>
              <a:latin typeface="Calibri"/>
            </a:endParaRPr>
          </a:p>
          <a:p>
            <a:pPr marL="394023" indent="-394023" algn="just">
              <a:lnSpc>
                <a:spcPct val="90000"/>
              </a:lnSpc>
              <a:spcBef>
                <a:spcPts val="1000"/>
              </a:spcBef>
              <a:buAutoNum type="arabicPeriod"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Смена регистра: Попросите пользователя ввести предложение. Преобразуйте его в верхний регистр (ToUpper()), затем в нижний регистр (ToLower()) и выведите оба результата.</a:t>
            </a:r>
            <a:endParaRPr lang="ru-RU" sz="2800" b="0" strike="noStrike" spc="0">
              <a:solidFill>
                <a:srgbClr val="000000"/>
              </a:solidFill>
              <a:latin typeface="Calibri"/>
            </a:endParaRPr>
          </a:p>
          <a:p>
            <a:pPr marL="394023" indent="-394023" algn="just">
              <a:lnSpc>
                <a:spcPct val="90000"/>
              </a:lnSpc>
              <a:spcBef>
                <a:spcPts val="1000"/>
              </a:spcBef>
              <a:buAutoNum type="arabicPeriod"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Подсчет слов: Реализуйте программу, которая принимает текст и подсчитывает количество слов в нем. Используйте метод Split() для разделения строки по пробелам и знакам препинания.</a:t>
            </a:r>
            <a:endParaRPr lang="ru-RU" sz="2800" b="0" strike="noStrike" spc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ONLYOFFICE/8.2.2.22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Элементы управления Win Forms</dc:title>
  <dc:subject/>
  <dc:creator>221</dc:creator>
  <dc:description/>
  <dc:language>ru-RU</dc:language>
  <cp:lastModifiedBy/>
  <cp:revision>30</cp:revision>
  <dcterms:created xsi:type="dcterms:W3CDTF">2025-11-07T06:03:59Z</dcterms:created>
  <dcterms:modified xsi:type="dcterms:W3CDTF">2025-11-28T10:02:26Z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28</vt:i4>
  </property>
</Properties>
</file>